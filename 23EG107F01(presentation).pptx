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59" r:id="rId5"/>
    <p:sldId id="260" r:id="rId6"/>
    <p:sldId id="258" r:id="rId7"/>
    <p:sldId id="261" r:id="rId8"/>
    <p:sldId id="262" r:id="rId9"/>
    <p:sldId id="264" r:id="rId10"/>
    <p:sldId id="265" r:id="rId11"/>
  </p:sldIdLst>
  <p:sldSz cx="9144000" cy="5143500" type="screen16x9"/>
  <p:notesSz cx="5143500" cy="9144000"/>
  <p:embeddedFontLst>
    <p:embeddedFont>
      <p:font typeface="Alice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Lora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BF8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877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ils.unc.edu/~bergr/courses/2024-5_spring/inls161-001/03a.02.servers.html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hyperlink" Target="https://creativecommons.org/licenses/by-nc-sa/3.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6454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Customer Support Automation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6311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Handle support tickets faster with AI — while keeping a human in the loop for every sensitive, emotional, or complex case. Built for speed, safety, and operational visibility.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407792"/>
            <a:ext cx="1815629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450282"/>
            <a:ext cx="210271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 + FASTAPI + GROQ LLM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811589" y="3403029"/>
            <a:ext cx="1431875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23458" y="3428070"/>
            <a:ext cx="170944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HUMAN-IN-THE-LOOP</a:t>
            </a:r>
            <a:endParaRPr lang="en-US" sz="8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C05904-86F8-1DC3-0183-B7C9529B886C}"/>
              </a:ext>
            </a:extLst>
          </p:cNvPr>
          <p:cNvSpPr/>
          <p:nvPr/>
        </p:nvSpPr>
        <p:spPr>
          <a:xfrm>
            <a:off x="7816426" y="4764193"/>
            <a:ext cx="1327574" cy="38608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23EG107F01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0B26B9-F0C7-B983-1D2D-BEE6CA8134F1}"/>
              </a:ext>
            </a:extLst>
          </p:cNvPr>
          <p:cNvSpPr txBox="1"/>
          <p:nvPr/>
        </p:nvSpPr>
        <p:spPr>
          <a:xfrm>
            <a:off x="7610847" y="4293925"/>
            <a:ext cx="138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23EG107F01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BBD417-FAC2-E9A7-EED9-F66FE396899D}"/>
              </a:ext>
            </a:extLst>
          </p:cNvPr>
          <p:cNvSpPr txBox="1"/>
          <p:nvPr/>
        </p:nvSpPr>
        <p:spPr>
          <a:xfrm>
            <a:off x="7610847" y="4034237"/>
            <a:ext cx="137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Tejomayee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5FB58-CC95-E05A-6962-2E28F09ECAA0}"/>
              </a:ext>
            </a:extLst>
          </p:cNvPr>
          <p:cNvSpPr txBox="1"/>
          <p:nvPr/>
        </p:nvSpPr>
        <p:spPr>
          <a:xfrm>
            <a:off x="7610847" y="4553613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AIML-F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871" y="403101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Problem with Traditional Support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870871" y="1360810"/>
            <a:ext cx="4831259" cy="712812"/>
          </a:xfrm>
          <a:prstGeom prst="roundRect">
            <a:avLst>
              <a:gd name="adj" fmla="val 2657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3997077" y="1487016"/>
            <a:ext cx="1578248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🔁</a:t>
            </a: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Repetitive Volume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997077" y="1756470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Agents waste hours on routine queries that AI could resolve instantly.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870871" y="2186062"/>
            <a:ext cx="4831259" cy="712812"/>
          </a:xfrm>
          <a:prstGeom prst="roundRect">
            <a:avLst>
              <a:gd name="adj" fmla="val 2657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3997077" y="2312268"/>
            <a:ext cx="1741066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⏳</a:t>
            </a: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Slow Response Times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97077" y="2581721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prioritization means urgent or emotional tickets sit in queue too long.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70871" y="3011314"/>
            <a:ext cx="4831259" cy="712812"/>
          </a:xfrm>
          <a:prstGeom prst="roundRect">
            <a:avLst>
              <a:gd name="adj" fmla="val 2657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3997077" y="3137520"/>
            <a:ext cx="1578248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🔍</a:t>
            </a: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Zero Visibility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97077" y="3406973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Managers lack real-time insight into AI performance, cost, or SLA compliance.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70871" y="3836566"/>
            <a:ext cx="4831259" cy="903759"/>
          </a:xfrm>
          <a:prstGeom prst="roundRect">
            <a:avLst>
              <a:gd name="adj" fmla="val 2096"/>
            </a:avLst>
          </a:prstGeom>
          <a:solidFill>
            <a:srgbClr val="F0EDE6"/>
          </a:solidFill>
          <a:ln/>
        </p:spPr>
      </p:sp>
      <p:sp>
        <p:nvSpPr>
          <p:cNvPr id="14" name="Text 11"/>
          <p:cNvSpPr/>
          <p:nvPr/>
        </p:nvSpPr>
        <p:spPr>
          <a:xfrm>
            <a:off x="3997077" y="3962772"/>
            <a:ext cx="1578248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⚠️</a:t>
            </a: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Risky Escalations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97077" y="4232225"/>
            <a:ext cx="457884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Abusive, legal, or high-stakes cases slip through without proper human handoff.</a:t>
            </a:r>
            <a:endParaRPr lang="en-US" sz="9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44B2B-27F8-F1CB-0FB6-0030536E8269}"/>
              </a:ext>
            </a:extLst>
          </p:cNvPr>
          <p:cNvSpPr/>
          <p:nvPr/>
        </p:nvSpPr>
        <p:spPr>
          <a:xfrm>
            <a:off x="7816426" y="4757420"/>
            <a:ext cx="1327574" cy="38608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23EG107F01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49560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Architecture at a Glance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03" y="2011338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Built for Reliability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4503" y="2277814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stack is designed for production-grade support operations — with PostgreSQL for durable ticket storage, Redis for session management, and ChromaDB powering knowledge-base retrieval.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714503" y="2866132"/>
            <a:ext cx="3759622" cy="742727"/>
          </a:xfrm>
          <a:prstGeom prst="roundRect">
            <a:avLst>
              <a:gd name="adj" fmla="val 2282"/>
            </a:avLst>
          </a:prstGeom>
          <a:solidFill>
            <a:srgbClr val="C3EED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463" y="3032224"/>
            <a:ext cx="141163" cy="1129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81587" y="2984302"/>
            <a:ext cx="327957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files:</a:t>
            </a: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backend/routes/tickets.py (core AI logic), backend/services/groq_client.py (LLM wrapper), frontend/src/App.tsx (role-based routing)</a:t>
            </a:r>
            <a:endParaRPr lang="en-US" sz="8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84F1E4-9447-4721-77A6-CDDFA2CAE7D9}"/>
              </a:ext>
            </a:extLst>
          </p:cNvPr>
          <p:cNvSpPr/>
          <p:nvPr/>
        </p:nvSpPr>
        <p:spPr>
          <a:xfrm>
            <a:off x="7816426" y="4757420"/>
            <a:ext cx="1327574" cy="38608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43679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End-to-End System 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275494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Score &amp; Deliver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Response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Escalate Risk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Classify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Customer Chat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26839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ticket is triaged in milliseconds. The system never drops a case — it either resolves it instantly or escalates it safely with full AI context packaged for the human reviewer.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00A7B6-482F-99BD-C032-D400C7824AA3}"/>
              </a:ext>
            </a:extLst>
          </p:cNvPr>
          <p:cNvSpPr/>
          <p:nvPr/>
        </p:nvSpPr>
        <p:spPr>
          <a:xfrm>
            <a:off x="7816426" y="4757420"/>
            <a:ext cx="1327574" cy="38608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AI Capabilities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03" y="2092523"/>
            <a:ext cx="228726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That Understands Context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4503" y="2359000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Groq LLM doesn't just reply — it reasons. Every incoming message is classified, scored for emotional tone, and routed based on urgency and risk.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714503" y="2947318"/>
            <a:ext cx="3759622" cy="580355"/>
          </a:xfrm>
          <a:prstGeom prst="roundRect">
            <a:avLst>
              <a:gd name="adj" fmla="val 2920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463" y="3113410"/>
            <a:ext cx="141163" cy="1129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81587" y="3065487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Escalation triggers: abusive language, legal/compliance topics, explicit handoff requests, or low AI confidence.</a:t>
            </a:r>
            <a:endParaRPr lang="en-US" sz="8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1E2DCF-E73F-8C29-9178-AB6FEE0D94B1}"/>
              </a:ext>
            </a:extLst>
          </p:cNvPr>
          <p:cNvSpPr/>
          <p:nvPr/>
        </p:nvSpPr>
        <p:spPr>
          <a:xfrm>
            <a:off x="7816426" y="4757420"/>
            <a:ext cx="1327574" cy="38608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0480"/>
            <a:ext cx="40071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How to Use This System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06984"/>
            <a:ext cx="838200" cy="83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223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Customer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028876"/>
            <a:ext cx="190500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Submits support requests through a chat-style interface. Gets instant AI responses or seamless human handoff.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706984"/>
            <a:ext cx="838200" cy="838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7223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Agent / Manager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028876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Handles escalated tickets in a real-time queue with AI-generated summaries and suggested replies.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706984"/>
            <a:ext cx="838200" cy="838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7223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Admin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028876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Manages knowledge-base documents for power AI retrieval.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706984"/>
            <a:ext cx="838200" cy="838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7223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Operations Team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028876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Monitors live metrics: ticket volume, SLA breaches, escalation rate, AI cost, and quality scores.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5FA558-B122-CACA-1DF4-8E1FB8FC3FBB}"/>
              </a:ext>
            </a:extLst>
          </p:cNvPr>
          <p:cNvSpPr/>
          <p:nvPr/>
        </p:nvSpPr>
        <p:spPr>
          <a:xfrm>
            <a:off x="7816426" y="4757420"/>
            <a:ext cx="1327574" cy="38608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4C5E5D6-BB9B-F71B-45EF-CF6517A57E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722399" y="1605189"/>
            <a:ext cx="1096294" cy="9399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AB0CB88-F59B-FEF3-00D5-4FDA4574D0A0}"/>
              </a:ext>
            </a:extLst>
          </p:cNvPr>
          <p:cNvSpPr txBox="1"/>
          <p:nvPr/>
        </p:nvSpPr>
        <p:spPr>
          <a:xfrm>
            <a:off x="6880792" y="4208408"/>
            <a:ext cx="93790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solidFill>
                  <a:schemeClr val="bg1"/>
                </a:solidFill>
                <a:hlinkClick r:id="rId8" tooltip="https://ils.unc.edu/~bergr/courses/2024-5_spring/inls161-001/03a.02.server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N" sz="900" dirty="0">
                <a:solidFill>
                  <a:schemeClr val="bg1"/>
                </a:solidFill>
              </a:rPr>
              <a:t> by Unknown Author is licensed under </a:t>
            </a:r>
            <a:r>
              <a:rPr lang="en-IN" sz="900" dirty="0">
                <a:solidFill>
                  <a:schemeClr val="bg1"/>
                </a:solidFill>
                <a:hlinkClick r:id="rId9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N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7886"/>
            <a:ext cx="404232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Human Handoff, Done Right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7022"/>
            <a:ext cx="4651549" cy="31009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5071" y="1993553"/>
            <a:ext cx="286791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Escalated tickets arrive fully packaged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25071" y="2260029"/>
            <a:ext cx="2549054" cy="730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When a case is escalated, the manager doesn't start from scratch. Every handoff includes: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Replies are pushed back to the customer in real time via WebSocket.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831" y="4243871"/>
            <a:ext cx="169441" cy="1694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1574" y="424041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Escalation reason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041574" y="4470871"/>
            <a:ext cx="21562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the AI flagged it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2651" y="4243871"/>
            <a:ext cx="169441" cy="1694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77394" y="424041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context summary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677394" y="4470871"/>
            <a:ext cx="21562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 ticket history and classification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8472" y="4243871"/>
            <a:ext cx="169441" cy="1694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3215" y="424041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Suggested reply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313215" y="4470871"/>
            <a:ext cx="21562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AI-drafted response ready to edit and send</a:t>
            </a:r>
            <a:endParaRPr lang="en-US" sz="8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0505DA-0766-1A45-4214-73B12401B2A5}"/>
              </a:ext>
            </a:extLst>
          </p:cNvPr>
          <p:cNvSpPr/>
          <p:nvPr/>
        </p:nvSpPr>
        <p:spPr>
          <a:xfrm>
            <a:off x="7725296" y="4710006"/>
            <a:ext cx="1327574" cy="38608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8610" y="408980"/>
            <a:ext cx="4815780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Live Dashboard &amp; Operational Metrics</a:t>
            </a:r>
            <a:endParaRPr lang="en-US" sz="2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8610" y="1386483"/>
            <a:ext cx="321171" cy="3211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45260" y="1386483"/>
            <a:ext cx="199801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Ticket Volume &amp; Categories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345260" y="1656978"/>
            <a:ext cx="434913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breakdown by issue type and sentiment distribution across all active tickets.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8610" y="2281684"/>
            <a:ext cx="321171" cy="3211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45260" y="228168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SLA &amp; Response Time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345260" y="2552179"/>
            <a:ext cx="434913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Track average response time and flag SLA breaches before they become customer issues.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78610" y="3176885"/>
            <a:ext cx="321171" cy="3211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45260" y="3176885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Token Cost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345260" y="3447380"/>
            <a:ext cx="434913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 per-ticket AI cost and total spend — keeping operations transparent and accountable.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78610" y="4072086"/>
            <a:ext cx="321171" cy="32117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45260" y="407208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Quality Score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345260" y="4342581"/>
            <a:ext cx="434913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AI response is scored for faithfulness and relevancy, giving managers a quality baseline.</a:t>
            </a:r>
            <a:endParaRPr lang="en-US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4BA459-C495-5D8F-FE89-A5FD81C77148}"/>
              </a:ext>
            </a:extLst>
          </p:cNvPr>
          <p:cNvSpPr/>
          <p:nvPr/>
        </p:nvSpPr>
        <p:spPr>
          <a:xfrm>
            <a:off x="7748693" y="4734445"/>
            <a:ext cx="1327574" cy="38608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1903"/>
            <a:ext cx="66925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Security, Governance &amp; Error Handling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1548408"/>
            <a:ext cx="4024015" cy="131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1709217"/>
            <a:ext cx="243869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🔐</a:t>
            </a: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Prompt Injection Detection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4077" y="2020491"/>
            <a:ext cx="3626197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Guardrails in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backend/services/guardrails.py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detect and block adversarial inputs before they reach the LLM.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792" y="1548408"/>
            <a:ext cx="4024089" cy="13180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60801" y="1709217"/>
            <a:ext cx="223004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🛡️</a:t>
            </a: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Sensitive Data Redaction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60801" y="2020491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Card numbers and PII are automatically redacted from ticket content before processing or storage.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069" y="3008263"/>
            <a:ext cx="4024015" cy="13133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4077" y="3169072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📋</a:t>
            </a: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Full Audit Logging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14077" y="3480346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AI action — classification, escalation, response generation — is logged for compliance and review.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3792" y="3008263"/>
            <a:ext cx="4024089" cy="13133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60801" y="3169072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⚡</a:t>
            </a: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Graceful Failure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860801" y="3480346"/>
            <a:ext cx="362627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If the LLM times out or returns invalid output, the system escalates safely to a human. It never breaks silently.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1DF775-6C1B-2A4F-4B2C-A0177C7C2E03}"/>
              </a:ext>
            </a:extLst>
          </p:cNvPr>
          <p:cNvSpPr/>
          <p:nvPr/>
        </p:nvSpPr>
        <p:spPr>
          <a:xfrm>
            <a:off x="7816426" y="4696460"/>
            <a:ext cx="1327574" cy="38608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871" y="397892"/>
            <a:ext cx="36136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Outcome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060254" y="1087562"/>
            <a:ext cx="464187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project turns customer support from a slow, manual queue into an AI-assisted, sentiment-aware, escalation-safe system with real-time operational visibility.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870871" y="961058"/>
            <a:ext cx="14288" cy="825847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6" name="Shape 3"/>
          <p:cNvSpPr/>
          <p:nvPr/>
        </p:nvSpPr>
        <p:spPr>
          <a:xfrm>
            <a:off x="3870871" y="1913409"/>
            <a:ext cx="4831259" cy="2832199"/>
          </a:xfrm>
          <a:prstGeom prst="roundRect">
            <a:avLst>
              <a:gd name="adj" fmla="val 669"/>
            </a:avLst>
          </a:prstGeom>
          <a:solidFill>
            <a:srgbClr val="F0EDE6"/>
          </a:solidFill>
          <a:ln/>
        </p:spPr>
      </p:sp>
      <p:sp>
        <p:nvSpPr>
          <p:cNvPr id="7" name="Shape 4"/>
          <p:cNvSpPr/>
          <p:nvPr/>
        </p:nvSpPr>
        <p:spPr>
          <a:xfrm>
            <a:off x="3870871" y="1913409"/>
            <a:ext cx="4831259" cy="708050"/>
          </a:xfrm>
          <a:prstGeom prst="roundRect">
            <a:avLst>
              <a:gd name="adj" fmla="val 2675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3997077" y="203961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Faster First Response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97077" y="2304306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resolves routine tickets instantly, no agent wait time.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70871" y="2621459"/>
            <a:ext cx="4831259" cy="70805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1" name="Shape 8"/>
          <p:cNvSpPr/>
          <p:nvPr/>
        </p:nvSpPr>
        <p:spPr>
          <a:xfrm>
            <a:off x="3870871" y="2621459"/>
            <a:ext cx="4831259" cy="14288"/>
          </a:xfrm>
          <a:prstGeom prst="roundRect">
            <a:avLst>
              <a:gd name="adj" fmla="val 132553"/>
            </a:avLst>
          </a:prstGeom>
          <a:solidFill>
            <a:srgbClr val="D6D3CC"/>
          </a:solidFill>
          <a:ln/>
        </p:spPr>
      </p:sp>
      <p:sp>
        <p:nvSpPr>
          <p:cNvPr id="12" name="Text 9"/>
          <p:cNvSpPr/>
          <p:nvPr/>
        </p:nvSpPr>
        <p:spPr>
          <a:xfrm>
            <a:off x="3997077" y="274766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Smarter Prioritization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97077" y="3012356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Urgent and emotional cases surface automatically.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70871" y="3329508"/>
            <a:ext cx="4831259" cy="70805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5" name="Shape 12"/>
          <p:cNvSpPr/>
          <p:nvPr/>
        </p:nvSpPr>
        <p:spPr>
          <a:xfrm>
            <a:off x="3870871" y="3329508"/>
            <a:ext cx="4831259" cy="14288"/>
          </a:xfrm>
          <a:prstGeom prst="roundRect">
            <a:avLst>
              <a:gd name="adj" fmla="val 132553"/>
            </a:avLst>
          </a:prstGeom>
          <a:solidFill>
            <a:srgbClr val="D6D3CC"/>
          </a:solidFill>
          <a:ln/>
        </p:spPr>
      </p:sp>
      <p:sp>
        <p:nvSpPr>
          <p:cNvPr id="16" name="Text 13"/>
          <p:cNvSpPr/>
          <p:nvPr/>
        </p:nvSpPr>
        <p:spPr>
          <a:xfrm>
            <a:off x="3997077" y="345571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Reduced Agent Load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97077" y="3720405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Humans focus only on cases that truly need them.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70871" y="4037558"/>
            <a:ext cx="4831259" cy="70805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9" name="Shape 16"/>
          <p:cNvSpPr/>
          <p:nvPr/>
        </p:nvSpPr>
        <p:spPr>
          <a:xfrm>
            <a:off x="3870871" y="4037558"/>
            <a:ext cx="4831259" cy="14288"/>
          </a:xfrm>
          <a:prstGeom prst="roundRect">
            <a:avLst>
              <a:gd name="adj" fmla="val 132553"/>
            </a:avLst>
          </a:prstGeom>
          <a:solidFill>
            <a:srgbClr val="D6D3CC"/>
          </a:solidFill>
          <a:ln/>
        </p:spPr>
      </p:sp>
      <p:sp>
        <p:nvSpPr>
          <p:cNvPr id="20" name="Text 17"/>
          <p:cNvSpPr/>
          <p:nvPr/>
        </p:nvSpPr>
        <p:spPr>
          <a:xfrm>
            <a:off x="3997077" y="416376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Scalable &amp; Safe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997077" y="4428455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Guardrails, audit logs, and escalation keep AI adoption responsible.</a:t>
            </a:r>
            <a:endParaRPr lang="en-US" sz="9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60DB36-D7D4-83D6-448D-D4A50D025574}"/>
              </a:ext>
            </a:extLst>
          </p:cNvPr>
          <p:cNvSpPr/>
          <p:nvPr/>
        </p:nvSpPr>
        <p:spPr>
          <a:xfrm>
            <a:off x="7816426" y="4757420"/>
            <a:ext cx="1327574" cy="38608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702</Words>
  <Application>Microsoft Office PowerPoint</Application>
  <PresentationFormat>On-screen Show (16:9)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Lora</vt:lpstr>
      <vt:lpstr>Consolas</vt:lpstr>
      <vt:lpstr>Arial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tejomayee agirishetty</cp:lastModifiedBy>
  <cp:revision>9</cp:revision>
  <dcterms:created xsi:type="dcterms:W3CDTF">2026-06-03T20:48:39Z</dcterms:created>
  <dcterms:modified xsi:type="dcterms:W3CDTF">2026-06-04T07:06:33Z</dcterms:modified>
</cp:coreProperties>
</file>